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AB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17"/>
    <p:restoredTop sz="95814"/>
  </p:normalViewPr>
  <p:slideViewPr>
    <p:cSldViewPr snapToGrid="0">
      <p:cViewPr varScale="1">
        <p:scale>
          <a:sx n="82" d="100"/>
          <a:sy n="82" d="100"/>
        </p:scale>
        <p:origin x="184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AFBCE-1D23-EE20-6B75-4E2E00A96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DE9989-B505-E0DD-FFF3-7FDEB4FEA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6D84E-9092-F256-5D01-F58D20250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E4F9-3934-C94B-8695-A2C044A0B791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82566-0AA1-2880-4810-2164F449B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D56F4-DBF6-161B-B5C7-B558A5EEC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F6FFD-F7C0-5346-AAA2-211E6AA076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374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FF79E-D46B-90B4-583C-664EC7698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EB8FB-4BA9-700E-6A68-7D731B6F6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739EF-CADC-16D1-125C-A101FE87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E4F9-3934-C94B-8695-A2C044A0B791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5C81E-3E80-5840-C354-CEFBFE656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A05E8-863D-7E25-FFE0-0B4310144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F6FFD-F7C0-5346-AAA2-211E6AA076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326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D44D-1347-C45C-B75A-F16F00C8E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E4596-5787-2996-A635-56BE7A57F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A3C05-701D-51FC-A3B3-D580F28C7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E4F9-3934-C94B-8695-A2C044A0B791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CBD37-33D7-6DAD-8981-A589AB95C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9CCE4-3D9B-266E-7517-90964B928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F6FFD-F7C0-5346-AAA2-211E6AA076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2694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E1912-454F-C761-11EB-11AA4F7C6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17AAC-F71E-590B-4580-ABD2DCC1A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0ED288-9D1C-D1BA-0D81-134DB919C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1736D-AF5E-76A7-283A-A6285782B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E4F9-3934-C94B-8695-A2C044A0B791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FF2B1A-2511-8E17-CE15-0AB1CBC9D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F07ED-3B77-1884-5751-DA63EE65D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F6FFD-F7C0-5346-AAA2-211E6AA076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4308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D2ACF-A962-6392-DB44-EEBB99BC9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96BA3-4B24-21A5-C2EE-DACBA2F29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4FC6E-4533-3A90-F5A8-DFDE2518A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8C2D99-5DBF-653B-CF46-276BFC59B8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537B54-3BCF-9203-AED4-5F9DEAA809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9FD54E-EDE1-0EA2-41E3-298F08301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E4F9-3934-C94B-8695-A2C044A0B791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C80775-8FA8-611E-6696-D7208147D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FF038A-D5FC-6F75-A921-59DAF943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F6FFD-F7C0-5346-AAA2-211E6AA076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1390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55B4-DEBA-4CC7-2B3A-31D506A08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46A4A1-FFDB-98C2-4848-ED475056C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E4F9-3934-C94B-8695-A2C044A0B791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248192-127F-0B3D-8119-F5D207F0D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28FBA2-8027-0731-9F75-E7F8132A4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F6FFD-F7C0-5346-AAA2-211E6AA076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3814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8D1802-F8E5-B0AE-5DE9-DF9CAEE8C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E4F9-3934-C94B-8695-A2C044A0B791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09997A-6DA3-ECDF-B6BF-977B6C5B3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892D8-BA36-99C9-36D3-943EE8E61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F6FFD-F7C0-5346-AAA2-211E6AA076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635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FB2C8-99BD-461C-C4F9-AA33EFE76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E17A2-EB0C-2B62-3888-3C8E3199B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FAEAB-42BD-57E4-6AEE-D5034DAD2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3B0C40-174D-512E-4F7A-3500A631D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E4F9-3934-C94B-8695-A2C044A0B791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4CBE05-0BF5-C89D-8198-A5F7C1717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8D9F66-F7B1-CA57-B62F-900BC2B02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F6FFD-F7C0-5346-AAA2-211E6AA076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8436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2D0E9-DD84-8E50-1739-A0BB2ADD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103D5E-CF36-E932-75E8-4E6A039CEA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F2198-0F7A-4A99-8E01-A1D6E6FBA1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4C0B2-0C7C-2E97-0455-D32F031EB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E4F9-3934-C94B-8695-A2C044A0B791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9D01F-6191-1435-B17A-212E04414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A9017-D5D7-B1AB-FA68-85109EDA7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F6FFD-F7C0-5346-AAA2-211E6AA076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9097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9D925-7C48-4D6C-9B2F-5DBC0CEB4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215DF-EEC6-332A-9D2F-2CD16C1B1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28762-81A0-FF9D-B3E5-17406752E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E4F9-3934-C94B-8695-A2C044A0B791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43097-3B52-9793-AFD6-C565B0E2C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0E219-123A-CF2E-1CDD-46301FC12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F6FFD-F7C0-5346-AAA2-211E6AA076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8031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0BF852-ED14-BFA2-40C9-0CD55CF102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EBD7B9-FFEB-B3A9-B406-9020C77EB5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D0D76-3558-31A9-8AB0-AE358ECC1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E4F9-3934-C94B-8695-A2C044A0B791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D047A-B377-08AD-F854-E39E466D3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0E3E-1667-4E3E-21E3-40D39263C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F6FFD-F7C0-5346-AAA2-211E6AA076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3614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6B2C9D-CC35-07A6-4389-9D417D856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AC3D6-CD98-3C4B-6390-FE7BAA207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3CBFB-7C56-D542-DF05-D23F9FE9F3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6E4F9-3934-C94B-8695-A2C044A0B791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BBE09-FC52-8D07-D928-C85EB7C33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EDD4A-4648-96BD-81B3-FBAF07564B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AF6FFD-F7C0-5346-AAA2-211E6AA076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8823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SQL code to create the chart.">
            <a:extLst>
              <a:ext uri="{FF2B5EF4-FFF2-40B4-BE49-F238E27FC236}">
                <a16:creationId xmlns:a16="http://schemas.microsoft.com/office/drawing/2014/main" id="{C420F588-672B-58F5-4D03-A812F01CED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15" t="3358" r="6222" b="3988"/>
          <a:stretch>
            <a:fillRect/>
          </a:stretch>
        </p:blipFill>
        <p:spPr>
          <a:xfrm>
            <a:off x="7882359" y="112109"/>
            <a:ext cx="4156104" cy="66337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3" name="Group 12" descr="A chart showing how the new registrations of BEV developed in Germany between January 2017 and March 2026. From a share below 1 % there were major drivers that a highlighted with annotations:&#10;- June 2020: Purchase incentive introduced.&#10;- Fall 2021: Rush to secure purchase incentive before scheduled 2021 expiry and government change.&#10;Dec 2022: Last chance for maximum incentive before rates decreased in Jan 2023.&#10;Aug 2023: Final month for incentive for commercial buyers; private buyers only thereafter.&#10;Dec 2023: Immediate termination of all EV subsidies following federal budget ruling.&#10;2024-25: Organic growth from 10 percent to 24 percent.&#10;Share of Tesla cars is added from 2021 onwards, showing a typical pattern of a weak first month of the quarter, followed by two stronger months. The share increased up to 6 percent until mid 2023, since then it has declined. Strong uptick in March 2026 (about 3 percent of total new registrations).">
            <a:extLst>
              <a:ext uri="{FF2B5EF4-FFF2-40B4-BE49-F238E27FC236}">
                <a16:creationId xmlns:a16="http://schemas.microsoft.com/office/drawing/2014/main" id="{D3EAD451-CABF-73AF-8541-34E9372AE03E}"/>
              </a:ext>
            </a:extLst>
          </p:cNvPr>
          <p:cNvGrpSpPr/>
          <p:nvPr/>
        </p:nvGrpSpPr>
        <p:grpSpPr>
          <a:xfrm>
            <a:off x="234562" y="1930292"/>
            <a:ext cx="7461311" cy="4522594"/>
            <a:chOff x="153537" y="1313815"/>
            <a:chExt cx="7508904" cy="455144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040AA59-6D8C-7F7B-7CCB-0431FC85B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3537" y="1313815"/>
              <a:ext cx="7508904" cy="423036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530190B-765D-7E93-0C27-CEF6359E8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3696" y="5685257"/>
              <a:ext cx="4712717" cy="180000"/>
            </a:xfrm>
            <a:prstGeom prst="rect">
              <a:avLst/>
            </a:prstGeom>
          </p:spPr>
        </p:pic>
      </p:grp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09CEFF4-6490-31C0-7999-B527C7B7A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91777" y="266218"/>
            <a:ext cx="949125" cy="439595"/>
          </a:xfrm>
          <a:prstGeom prst="roundRect">
            <a:avLst>
              <a:gd name="adj" fmla="val 37122"/>
            </a:avLst>
          </a:prstGeom>
          <a:solidFill>
            <a:srgbClr val="08ABB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>
                <a:latin typeface="Instrument Sans SemiBold" pitchFamily="2" charset="0"/>
              </a:rPr>
              <a:t>ggsql</a:t>
            </a:r>
            <a:endParaRPr lang="en-GB" dirty="0">
              <a:latin typeface="Instrument Sans SemiBold" pitchFamily="2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FA456B4-8AA6-1B99-FC25-0E95B9ED164F}"/>
              </a:ext>
            </a:extLst>
          </p:cNvPr>
          <p:cNvGrpSpPr/>
          <p:nvPr/>
        </p:nvGrpSpPr>
        <p:grpSpPr>
          <a:xfrm>
            <a:off x="374247" y="405114"/>
            <a:ext cx="6960560" cy="646331"/>
            <a:chOff x="443696" y="405114"/>
            <a:chExt cx="6960560" cy="64633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FAB9942-D928-8759-7528-824F2F6AC4CA}"/>
                </a:ext>
              </a:extLst>
            </p:cNvPr>
            <p:cNvSpPr txBox="1"/>
            <p:nvPr/>
          </p:nvSpPr>
          <p:spPr>
            <a:xfrm>
              <a:off x="443696" y="405114"/>
              <a:ext cx="69605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600" i="1" dirty="0">
                  <a:solidFill>
                    <a:srgbClr val="08ABBD"/>
                  </a:solidFill>
                  <a:latin typeface="Instrument Sans" pitchFamily="2" charset="0"/>
                </a:rPr>
                <a:t>This chart was created with SQL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C0AEDBB-BCB1-F820-2F1C-5CA2ED84D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8733" y="1016720"/>
              <a:ext cx="6609145" cy="11575"/>
            </a:xfrm>
            <a:prstGeom prst="line">
              <a:avLst/>
            </a:prstGeom>
            <a:ln w="9525">
              <a:solidFill>
                <a:srgbClr val="08ABB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93562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0CBEC-F018-CB26-D9AE-F640276AC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hart showing how the new registrations of BEV developed in Germany between January 2017 and March 2026. From a share below 1 % there were major drivers that a highlighted with annotations:&#10;- June 2020: Purchase incentive introduced.&#10;- Fall 2021: Rush to secure purchase incentive before scheduled 2021 expiry and government change.&#10;Dec 2022: Last chance for maximum incentive before rates decreased in Jan 2023.&#10;Aug 2023: Final month for incentive for commercial buyers; private buyers only thereafter.&#10;Dec 2023: Immediate termination of all EV subsidies following federal budget ruling.&#10;2024-25: Organic growth from 10 percent to 24 percent.&#10;Share of Tesla cars is added from 2021 onwards, showing a typical pattern of a weak first month of the quarter, followed by two stronger months. The share increased up to 6 percent until mid 2023, since then it has declined. Strong uptick in March 2026 (about 3 percent of total new registrations).">
            <a:extLst>
              <a:ext uri="{FF2B5EF4-FFF2-40B4-BE49-F238E27FC236}">
                <a16:creationId xmlns:a16="http://schemas.microsoft.com/office/drawing/2014/main" id="{67DE9B3F-847B-6672-B8BB-C81A5B218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12" y="1952675"/>
            <a:ext cx="7534989" cy="4274506"/>
          </a:xfrm>
          <a:prstGeom prst="rect">
            <a:avLst/>
          </a:prstGeom>
        </p:spPr>
      </p:pic>
      <p:pic>
        <p:nvPicPr>
          <p:cNvPr id="4" name="Picture 3" descr="The SQL code to create the chart.">
            <a:extLst>
              <a:ext uri="{FF2B5EF4-FFF2-40B4-BE49-F238E27FC236}">
                <a16:creationId xmlns:a16="http://schemas.microsoft.com/office/drawing/2014/main" id="{4B4F7743-D5D9-6810-80B2-6ABC19958E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15" t="3358" r="6222" b="3988"/>
          <a:stretch>
            <a:fillRect/>
          </a:stretch>
        </p:blipFill>
        <p:spPr>
          <a:xfrm>
            <a:off x="7882359" y="112109"/>
            <a:ext cx="4156104" cy="66337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1E90FD9-3686-E0C3-C56E-2D108E008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91777" y="266218"/>
            <a:ext cx="949125" cy="439595"/>
          </a:xfrm>
          <a:prstGeom prst="roundRect">
            <a:avLst>
              <a:gd name="adj" fmla="val 37122"/>
            </a:avLst>
          </a:prstGeom>
          <a:solidFill>
            <a:srgbClr val="08ABB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>
                <a:latin typeface="Instrument Sans SemiBold" pitchFamily="2" charset="0"/>
              </a:rPr>
              <a:t>ggsql</a:t>
            </a:r>
            <a:endParaRPr lang="en-GB" dirty="0">
              <a:latin typeface="Instrument Sans SemiBold" pitchFamily="2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F9AB71E-403E-290A-21FD-B110B20B1581}"/>
              </a:ext>
            </a:extLst>
          </p:cNvPr>
          <p:cNvGrpSpPr/>
          <p:nvPr/>
        </p:nvGrpSpPr>
        <p:grpSpPr>
          <a:xfrm>
            <a:off x="374247" y="405114"/>
            <a:ext cx="6960560" cy="646331"/>
            <a:chOff x="443696" y="405114"/>
            <a:chExt cx="6960560" cy="64633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44F1AFA-7283-8289-1F95-77BC9F429470}"/>
                </a:ext>
              </a:extLst>
            </p:cNvPr>
            <p:cNvSpPr txBox="1"/>
            <p:nvPr/>
          </p:nvSpPr>
          <p:spPr>
            <a:xfrm>
              <a:off x="443696" y="405114"/>
              <a:ext cx="69605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600" i="1" dirty="0">
                  <a:solidFill>
                    <a:srgbClr val="08ABBD"/>
                  </a:solidFill>
                  <a:latin typeface="Instrument Sans" pitchFamily="2" charset="0"/>
                </a:rPr>
                <a:t>This chart was created with SQL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10D84B9-A51F-8745-89CB-CC10EF2B8A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8733" y="1016720"/>
              <a:ext cx="6609145" cy="11575"/>
            </a:xfrm>
            <a:prstGeom prst="line">
              <a:avLst/>
            </a:prstGeom>
            <a:ln w="9525">
              <a:solidFill>
                <a:srgbClr val="08ABB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29487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14</Words>
  <Application>Microsoft Macintosh PowerPoint</Application>
  <PresentationFormat>Widescreen</PresentationFormat>
  <Paragraphs>4</Paragraphs>
  <Slides>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Instrument Sans</vt:lpstr>
      <vt:lpstr>Instrument Sans SemiBold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Ansgar Wolsing</dc:creator>
  <cp:lastModifiedBy>Ansgar Wolsing</cp:lastModifiedBy>
  <cp:revision>4</cp:revision>
  <dcterms:created xsi:type="dcterms:W3CDTF">2026-04-23T16:37:17Z</dcterms:created>
  <dcterms:modified xsi:type="dcterms:W3CDTF">2026-04-23T17:32:57Z</dcterms:modified>
</cp:coreProperties>
</file>